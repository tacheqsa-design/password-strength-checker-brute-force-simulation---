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comments/comment8.xml" ContentType="application/vnd.openxmlformats-officedocument.presentationml.comments+xml"/>
  <Override PartName="/ppt/comments/comment9.xml" ContentType="application/vnd.openxmlformats-officedocument.presentationml.comments+xml"/>
  <Override PartName="/ppt/comments/comment10.xml" ContentType="application/vnd.openxmlformats-officedocument.presentationml.comments+xml"/>
  <Override PartName="/ppt/comments/comment11.xml" ContentType="application/vnd.openxmlformats-officedocument.presentationml.comments+xml"/>
  <Override PartName="/ppt/notesSlides/notesSlide2.xml" ContentType="application/vnd.openxmlformats-officedocument.presentationml.notesSlide+xml"/>
  <Override PartName="/ppt/comments/comment12.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64" r:id="rId2"/>
    <p:sldId id="265" r:id="rId3"/>
    <p:sldId id="266" r:id="rId4"/>
    <p:sldId id="278" r:id="rId5"/>
    <p:sldId id="256" r:id="rId6"/>
    <p:sldId id="260" r:id="rId7"/>
    <p:sldId id="274" r:id="rId8"/>
    <p:sldId id="279" r:id="rId9"/>
    <p:sldId id="277" r:id="rId10"/>
    <p:sldId id="262" r:id="rId11"/>
    <p:sldId id="280" r:id="rId12"/>
    <p:sldId id="276" r:id="rId13"/>
    <p:sldId id="28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23" clrIdx="0">
    <p:extLst>
      <p:ext uri="{19B8F6BF-5375-455C-9EA6-DF929625EA0E}">
        <p15:presenceInfo xmlns:p15="http://schemas.microsoft.com/office/powerpoint/2012/main" userId="Administrato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62" autoAdjust="0"/>
    <p:restoredTop sz="94660"/>
  </p:normalViewPr>
  <p:slideViewPr>
    <p:cSldViewPr snapToGrid="0">
      <p:cViewPr varScale="1">
        <p:scale>
          <a:sx n="80" d="100"/>
          <a:sy n="80" d="100"/>
        </p:scale>
        <p:origin x="15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9-18T16:05:47.988" idx="6">
    <p:pos x="106" y="106"/>
    <p:text>Password Strength Checker &amp; Brute Force Simulation
რატომ არის ძლიერი პაროლი მნიშვნელოვანი
რა ხდის პაროლს სუსტს ან ძლიერს
მარტივი ახსნა და ვიზუალური მაგალითი
პაროლის შესაძლო ვარიანტების თანმიმდევრული შემოწმება
პაროლის სიგრძე და სიმბოლოების რაოდენობა
გრძელი უნიკალური პაროლი, MFA და ა.შ.
Password Strength Checker-ის მუშაობა</p:text>
    <p:extLst>
      <p:ext uri="{C676402C-5697-4E1C-873F-D02D1690AC5C}">
        <p15:threadingInfo xmlns:p15="http://schemas.microsoft.com/office/powerpoint/2012/main" timeZoneBias="-24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6-09-19T17:01:09.820" idx="7">
    <p:pos x="36" y="1122"/>
    <p:text>რატომ არის პაროლი მნიშვნელოვანი?
🔑 პაროლი — დაცვის პირველი ფენა
პაროლი გამოიყენება ჩვენი:
📧 ელფოსტის 
📱 სოციალური ქსელების 
💻 კომპიუტერის 
🏦 ონლაინ ანგარიშების 
☁️ მონაცემების დასაცავად.
სუსტი პაროლი → ანგარიშის გატეხვის უფრო მაღალი რისკი</p:text>
    <p:extLst>
      <p:ext uri="{C676402C-5697-4E1C-873F-D02D1690AC5C}">
        <p15:threadingInfo xmlns:p15="http://schemas.microsoft.com/office/powerpoint/2012/main" timeZoneBias="-24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6-09-19T17:11:06.345" idx="9">
    <p:pos x="10" y="10"/>
    <p:text>„პაროლი ხშირად არის ჩვენი ანგარიშის დაცვის პირველი ფენა. ამიტომ მნიშვნელოვანია, რომ ის იყოს საკმარისად ძლიერი და არ გამოიყენებოდეს რამდენიმე სხვადასხვა ანგარიშზე.“</p:text>
    <p:extLst>
      <p:ext uri="{C676402C-5697-4E1C-873F-D02D1690AC5C}">
        <p15:threadingInfo xmlns:p15="http://schemas.microsoft.com/office/powerpoint/2012/main" timeZoneBias="-24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6-09-19T17:09:48.799" idx="8">
    <p:pos x="44" y="29"/>
    <p:text>რა არის და როგორ მუშაობს-Password Strength Checker .პაროლის სიძლიერის შემმოწმებელი - ეს არის ალგორითმი, რომელიც რეალურ დროში აფასებს მომხმარებლის მიერ შეყვანილი პაროლის მდგრადობას პოტენციური კიბერშეტევების მიმართ.  . ის არ აწარმოებს ძებნას ბაზებში, არამედ მუშაობს წინასწარ განსაზღვრული წესებისა და კრიტერიუმების მიხედვით.
მთავარი კრიტერიუმები, რომლებსაც ჩეკერი ამოწმებს:
სიმბოლოების სიგრძე (Length): ეს არის უსაფრთხოების ფუნდამენტი. თანამედროვე სტანდარტით, პაროლი უნდა იყოს მინიმუმ 8-12 სიმბოლო.
სიმბოლოების მრავალფეროვნება (Complexity): ალგორითმი ამოწმებს, ფიგურირებს თუ არა პაროლში ერთდროულად ოთხივე კომპონენტი:
პატარა ასოები (a-z)
დიდი ასოები (A-Z)
ციფრები (0-9)
სპეციალური სიმბოლოები (მაგ: !@#$%^&amp;*)
პროგნოზირებადობა (Predictability): ჭკვიანი ჩეკერები ბლოკავენ პოპულარულ სიტყვებს (მაგ: password), თანმიმდევრობებს (123456, qwerty) ან მომხმარებლის პერსონალურ მონაცემებს (სახელი, გვარი, დაბადების წელი).</p:text>
    <p:extLst>
      <p:ext uri="{C676402C-5697-4E1C-873F-D02D1690AC5C}">
        <p15:threadingInfo xmlns:p15="http://schemas.microsoft.com/office/powerpoint/2012/main" timeZoneBias="-240"/>
      </p:ext>
    </p:extLst>
  </p:cm>
  <p:cm authorId="1" dt="2026-09-19T17:24:43.541" idx="10">
    <p:pos x="105" y="17"/>
    <p:text/>
    <p:extLst>
      <p:ext uri="{C676402C-5697-4E1C-873F-D02D1690AC5C}">
        <p15:threadingInfo xmlns:p15="http://schemas.microsoft.com/office/powerpoint/2012/main" timeZoneBias="-240"/>
      </p:ext>
    </p:extLst>
  </p:cm>
  <p:cm authorId="1" dt="2026-09-19T17:24:57.904" idx="11">
    <p:pos x="105" y="113"/>
    <p:text>ენტროპია (Entropy) — როგორ ზომავს ჩეკერი სიძლიერეს მათემატიკურად?
ინფორმაციული ენტროპია განსაზღვრავს, თუ რამდენად მოულოდნელი ან შემთხვევითია პაროლი. იგი იზომება ბიტებში (Bits). რაც უფრო მაღალია ბიტების რაოდენობა, მით უფრო რთულია პაროლის გამოცნობა. ფორმულა ეყრდნობა შესაძლო სიმბოლოების სიმრავლესა და პაროლის სიგრძეს.</p:text>
    <p:extLst>
      <p:ext uri="{C676402C-5697-4E1C-873F-D02D1690AC5C}">
        <p15:threadingInfo xmlns:p15="http://schemas.microsoft.com/office/powerpoint/2012/main" timeZoneBias="-240">
          <p15:parentCm authorId="1" idx="10"/>
        </p15:threadingInfo>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6-09-19T17:28:47.462" idx="13">
    <p:pos x="66" y="7"/>
    <p:text>კიბერუსაფრთხოების წამყვანი ორგანიზაცია Hive Systems ყოველწლიურად აქვეყნებს კვლევას იმის შესახებ, თუ რა დრო სჭირდება პაროლების ბრუტ-ფორსით გატეხვას თანამედროვე ტექნოლოგიების (გრაფიკული პროცესორების — GPU) პირობებში.
გამოთვლითი სიმძლავრეების ზრდის გამო, პაროლების გატეხვის დრო ყოველწლიურად 20%-დან 25%-მდე მცირდება.
 მაგალითად, 8-ნიშნა რთული პაროლი (დიდი/პატარა ასოები, ციფრები, სიმბოლოები), რომლის გატეხვასაც 2024 წელს 225 წელი სჭირდებოდა, 2026 წლის მონაცემებით უკვე 132 წელში ტყდება.
 ხოლო 8-ნიშნა პაროლი, რომელიც მხოლოდ პატარა ასოებისგან შედგება და ადრე თვეები სჭირდებოდა, დღეს სულ რაღაც 2 კვირაა საკმარისი ჰაკერებისთვის.
სტატისტიკა: მოპარული და გატეხილი პაროლების 98.5% მიეკუთვნება "სუსტი პაროლის" კატეგორიას. მსოფლიოში ყველაზე პოპულარული პაროლების 78%-ის გატეხვა ბრუტ ფორსით 1 წამზე ნაკლებ დროშია შესაძლებელი.</p:text>
    <p:extLst>
      <p:ext uri="{C676402C-5697-4E1C-873F-D02D1690AC5C}">
        <p15:threadingInfo xmlns:p15="http://schemas.microsoft.com/office/powerpoint/2012/main" timeZoneBias="-240"/>
      </p:ext>
    </p:extLst>
  </p:cm>
  <p:cm authorId="1" dt="2026-09-19T17:47:42.018" idx="14">
    <p:pos x="66" y="103"/>
    <p:text>„პაროლის სიძლიერეზე ერთ-ერთი ყველაზე მნიშვნელოვანი გავლენა აქვს მის სიგრძეს. ასევე სასარგებლოა სხვადასხვა ტიპის სიმბოლოების გამოყენება და თითოეული ანგარიშისთვის განსხვავებული პაროლის ქონა</p:text>
    <p:extLst>
      <p:ext uri="{C676402C-5697-4E1C-873F-D02D1690AC5C}">
        <p15:threadingInfo xmlns:p15="http://schemas.microsoft.com/office/powerpoint/2012/main" timeZoneBias="-240">
          <p15:parentCm authorId="1" idx="13"/>
        </p15:threadingInfo>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6-09-19T17:56:58.304" idx="15">
    <p:pos x="-7" y="-44"/>
    <p:text>რამდენად ეხმარება password checker პაროლის დაცულობას?“
ჩეკერი არის ერთადერთი ფილტრი, რომელიც მომხმარებელს აიძულებს გასცდეს იმ "კრიტიკულ ზღვარს", სადაც ბრუტ ფორსის აპარატურა მომენტალურად მუშაობს. ჩეკერის გარეშე ადამიანი ყოველთვის ირჩევს კომფორტს (მარტივ პაროლს). ჩეკერი კი მათემატიკურად ზრდის კომბინაციების რაოდენობას იმდენად, რომ ბრუტ ფორს შეტევა აზრს კარგავს რესურსების და დროის სიმცირის გამო.</p:text>
    <p:extLst>
      <p:ext uri="{C676402C-5697-4E1C-873F-D02D1690AC5C}">
        <p15:threadingInfo xmlns:p15="http://schemas.microsoft.com/office/powerpoint/2012/main" timeZoneBias="-24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6-09-19T17:26:26.614" idx="12">
    <p:pos x="10" y="10"/>
    <p:text>„Brute Force-ისგან დაცვისთვის მნიშვნელოვანია როგორც ძლიერი პაროლი, ასევე დამატებითი უსაფრთხოების მექანიზმები, მაგალითად MFA და შესვლის მცდელობების შეზღუდვა.“</p:text>
    <p:extLst>
      <p:ext uri="{C676402C-5697-4E1C-873F-D02D1690AC5C}">
        <p15:threadingInfo xmlns:p15="http://schemas.microsoft.com/office/powerpoint/2012/main" timeZoneBias="-24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1" dt="2026-09-19T18:40:26.417" idx="19">
    <p:pos x="10" y="10"/>
    <p:text>რა არის Brute Force attack- შეტევა?
Brute Force (ძალისმიერი გადარჩევა) არის კრიპტოანალიზისა და ჰაკინგის ყველაზე მარტივი, თუმცა მათემატიკურად უტყუარი მეთოდი. მისი არსი მდგომარეობს იმაში, რომ თავდამსხმელი პროგრამული უზრუნველყოფის საშუალებით, ყოველგვარი "ლოგიკისა" და "აზროვნების" გარეშე, ბრმად ცდის ყველა შესაძლო სიმბოლოს კომბინაციას მანამ, სანამ სწორი პაროლი არ დაემთხვევა.</p:text>
    <p:extLst>
      <p:ext uri="{C676402C-5697-4E1C-873F-D02D1690AC5C}">
        <p15:threadingInfo xmlns:p15="http://schemas.microsoft.com/office/powerpoint/2012/main" timeZoneBias="-240"/>
      </p:ext>
    </p:extLst>
  </p:cm>
</p:cmLst>
</file>

<file path=ppt/comments/comment9.xml><?xml version="1.0" encoding="utf-8"?>
<p:cmLst xmlns:a="http://schemas.openxmlformats.org/drawingml/2006/main" xmlns:r="http://schemas.openxmlformats.org/officeDocument/2006/relationships" xmlns:p="http://schemas.openxmlformats.org/presentationml/2006/main">
  <p:cm authorId="1" dt="2026-09-18T15:28:43.987" idx="1">
    <p:pos x="40" y="4"/>
    <p:text/>
    <p:extLst>
      <p:ext uri="{C676402C-5697-4E1C-873F-D02D1690AC5C}">
        <p15:threadingInfo xmlns:p15="http://schemas.microsoft.com/office/powerpoint/2012/main" timeZoneBias="-240"/>
      </p:ext>
    </p:extLst>
  </p:cm>
  <p:cm authorId="1" dt="2026-09-19T18:21:17.918" idx="16">
    <p:pos x="40" y="100"/>
    <p:text>1.ყველა შესაძლო კომბინაციის შემოწმება 2.გავრცელებული სიტყვების/პაროლების სიის გამოყენება
3.სიტყვების სია + მათი სხვადასხვა ვარიანტი
4.ერთი პაროლი → ბევრი მომხმარებელი
5.უკვე მოპარული username/password წყვილების გამოყენება</p:text>
    <p:extLst>
      <p:ext uri="{C676402C-5697-4E1C-873F-D02D1690AC5C}">
        <p15:threadingInfo xmlns:p15="http://schemas.microsoft.com/office/powerpoint/2012/main" timeZoneBias="-240">
          <p15:parentCm authorId="1" idx="1"/>
        </p15:threadingInfo>
      </p:ext>
    </p:extLst>
  </p:cm>
</p:cmLst>
</file>

<file path=ppt/comments/comment10.xml><?xml version="1.0" encoding="utf-8"?>
<p:cmLst xmlns:a="http://schemas.openxmlformats.org/drawingml/2006/main" xmlns:r="http://schemas.openxmlformats.org/officeDocument/2006/relationships" xmlns:p="http://schemas.openxmlformats.org/presentationml/2006/main">
  <p:cm authorId="1" dt="2026-09-19T18:29:34.433" idx="17">
    <p:pos x="10" y="10"/>
    <p:text>კლასიკური ბრუტ ფორსის დროს ჰაკერი იღებს ერთ კონკრეტულ მომხმარებელს (მაგალითად, მაიკლს) და ცდის მის ანგარიშზე მილიონობით პაროლს, რის გამოც სისტემა უსაფრთხოების გამო მას მომენტალურად ბლოკავს.     
Password Spraying (პაროლების გაფრქვევა)
სრულიად სხვა ლოგიკით მუშაობს, რაც ამ სურათზე იდეალურად ჩანს:
ბევრი სამიზნე, ერთი პაროლი: თავდამსხმელი იღებს მომხმარებელთა დიდ სიას (Michael, Jack, Kelly, Peter, Bella).
"გაფრქვევის" პრინციპი: ის არ ცდის ბევრ პაროლს ერთ ადამიანზე. ამის ნაცვლად, ის იღებს ერთ კონკრეტულ, ძალიან გავრცელებულ ან სავარაუდო პაროლს (მაგალითად, სურათზე ნაჩვენებია, რომ სისტემატურად ცდის სხვადასხვა კომბინაციებს) და თითო მომხმარებელზე მხოლოდ ერთხელ უშვებს მას.
უსაფრთხოების სისტემის მოტყუება: რადგან თითოეულ ანგარიშზე (სერვერზე) მხოლოდ 1 არასწორი მცდელობა ფიქსირდება, Target Authentication System (ავტორიზაციის სისტემა) ვერ ხვდება, რომ ჰაკერული შეტევა მიმდინარეობს და ანგარიშებს არ ბლოკავს.
შედეგი- სურათის ბოლოში ჩანს, რომ ბელას შემთხვევაში (Bella) ჰაკერის მიერ ნავარაუდები პაროლი bellaslim18 ზუსტად დაემთხვა რეალურს. სისტემამ მწვანე ნიშანი (Galka) დაუწერა და ჰაკერმაც წარმატებით შეაღწია სისტემაში.</p:text>
    <p:extLst>
      <p:ext uri="{C676402C-5697-4E1C-873F-D02D1690AC5C}">
        <p15:threadingInfo xmlns:p15="http://schemas.microsoft.com/office/powerpoint/2012/main" timeZoneBias="-240"/>
      </p:ext>
    </p:extLst>
  </p:cm>
  <p:cm authorId="1" dt="2026-09-19T18:31:30.849" idx="18">
    <p:pos x="106" y="106"/>
    <p:text>Microsoft-ისა და Verizon-ის 2025-2026 წლების ანგარიშები (Identity Attacks):
Microsoft Digital Defense Report-ის მიხედვით, კიბერშეტევების 97% არის ე.წ. "პაროლების გაფრქვევა". მაიკროსოფტი ყოველწამიერად ბლოკავს საშუალოდ 7000-ზე მეტ თავდასხმას პაროლებზე.</p:text>
    <p:extLst>
      <p:ext uri="{C676402C-5697-4E1C-873F-D02D1690AC5C}">
        <p15:threadingInfo xmlns:p15="http://schemas.microsoft.com/office/powerpoint/2012/main" timeZoneBias="-240"/>
      </p:ext>
    </p:extLst>
  </p:cm>
</p:cmLst>
</file>

<file path=ppt/comments/comment11.xml><?xml version="1.0" encoding="utf-8"?>
<p:cmLst xmlns:a="http://schemas.openxmlformats.org/drawingml/2006/main" xmlns:r="http://schemas.openxmlformats.org/officeDocument/2006/relationships" xmlns:p="http://schemas.openxmlformats.org/presentationml/2006/main">
  <p:cm authorId="1" dt="2026-09-19T18:42:37.973" idx="20">
    <p:pos x="10" y="10"/>
    <p:text>Brute Force სიმულაციის ძირითადი პრინციპი მდგომარეობს სისტემურ, მექანიკურ და მიზანმიმართულ ძიებაში, სადაც ითვლება ყველა შესაძლო კომბინაცია სანამ სწორი პასუხი (პაროლი) არ მოიძებნება.</p:text>
    <p:extLst>
      <p:ext uri="{C676402C-5697-4E1C-873F-D02D1690AC5C}">
        <p15:threadingInfo xmlns:p15="http://schemas.microsoft.com/office/powerpoint/2012/main" timeZoneBias="-240"/>
      </p:ext>
    </p:extLst>
  </p:cm>
  <p:cm authorId="1" dt="2026-10-08T16:01:52.528" idx="21">
    <p:pos x="10" y="106"/>
    <p:text>როგორ მუშაობს სიმულაცია (მათემატიკური მოდელი)?
თუ ჰაკერულ პროგრამას აქვს დავალება, გატეხოს პაროლი, რომელიც შედგება მხოლოდ პატარა ლათინური ასოებისგან (ანბანში არის 26 ასო):
პროგრამა იწყებს 1-ნიშნა კომბინაციებით: a, b, c ... z (სულ 26 მცდელობა).
თუ ვერ იპოვა, გადადის 2-ნიშნა კომბინაციებზე: aa, ab, ac ... zz (26² = 676 მცდელობა).
შემდეგ გადადის 3-ნიშნა კომბინაციებზე (26³ = 17,576 მცდელობა) და ასე გრძელდება.</p:text>
    <p:extLst>
      <p:ext uri="{C676402C-5697-4E1C-873F-D02D1690AC5C}">
        <p15:threadingInfo xmlns:p15="http://schemas.microsoft.com/office/powerpoint/2012/main" timeZoneBias="-240">
          <p15:parentCm authorId="1" idx="20"/>
        </p15:threadingInfo>
      </p:ext>
    </p:extLst>
  </p:cm>
</p:cmLst>
</file>

<file path=ppt/comments/comment12.xml><?xml version="1.0" encoding="utf-8"?>
<p:cmLst xmlns:a="http://schemas.openxmlformats.org/drawingml/2006/main" xmlns:r="http://schemas.openxmlformats.org/officeDocument/2006/relationships" xmlns:p="http://schemas.openxmlformats.org/presentationml/2006/main">
  <p:cm authorId="1" dt="2026-10-08T16:24:35.117" idx="22">
    <p:pos x="10" y="10"/>
    <p:text>Brute Force სიმულაცია-რატომ არის მნიშვნელოვანი?
 ის რეალურ დროში აჩვენებს აუდიტორიას, თუ რამდენად სწრაფად ნადგურდება სუსტი და მარტივი პაროლები.
უსაფრთხოების ტესტირება (Penetration Testing): კომპანიის ეთიკური ჰაკერები იყენებენ მსგავს ინსტრუმენტებს საკუთარი სერვერების შესამოწმებლად, სანამ რეალური თავდამსხმელი გამოიყენებს მათ.
დაცვის მექანიზმების დემონსტრაცია: სიმულაციის დროს კარგად ჩანს, რატომ არის აუცილებელი ისეთი დამცავი ბარიერები, როგორიცაა Rate Limiting (მცდელობების შეზღუდვა), CAPTCHA და მრავალფაქტორიანი ავტორიზაცია (2FA).</p:text>
    <p:extLst>
      <p:ext uri="{C676402C-5697-4E1C-873F-D02D1690AC5C}">
        <p15:threadingInfo xmlns:p15="http://schemas.microsoft.com/office/powerpoint/2012/main" timeZoneBias="-240"/>
      </p:ext>
    </p:extLst>
  </p:cm>
  <p:cm authorId="1" dt="2026-10-08T16:29:00.526" idx="23">
    <p:pos x="10" y="106"/>
    <p:text>1. CAPTCHA (კაპჩა)
რა არის: ეს არის სპეციალური ტესტი, რომელიც ამოწმებს, რეალური ადამიანი ცდილობს სისტემაში შესვლას თუ ავტომატური პროგრამა (ბოტი). სახელი მომდინარეობს ინგლისური ფრაზიდან (Completely Automated Public Turing test to tell Computers and Humans Apart).
როგორ მუშაობს: კაპჩა მომხმარებელს სთხოვს ისეთი დავალების შესრულებას, რისი გაკეთებაც ადამიანისთვის ძალიან მარტივია, ხოლო კომპიუტერისთვის — რთული (მაგალითად: ფოტოებზე შუქნიშნების ან ავტობუსების მონიშვნა, დამახინჯებული სიმბოლოების ამოცნობა ან უბრალოდ „მე არ ვარ რობოტი“ უჯრაზე თითის დაწკაპუნება).
როგორ გვიცავს: როდესაც ბრუტ-ფორს სკრიპტი ცდილობს წამში ათასობით მცდელობის გაგზავნას, კაპჩა ერთიანად ბლოკავს ამ ავტომატიზაციას და ითხოვს ადამიანურ ჩარევას, რითაც ჰაკერს მუშაობას უჩერებს.</p:text>
    <p:extLst>
      <p:ext uri="{C676402C-5697-4E1C-873F-D02D1690AC5C}">
        <p15:threadingInfo xmlns:p15="http://schemas.microsoft.com/office/powerpoint/2012/main" timeZoneBias="-240">
          <p15:parentCm authorId="1" idx="22"/>
        </p15:threadingInfo>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9179C5-F9E4-4B73-96BA-69A87D3F4628}" type="datetimeFigureOut">
              <a:rPr lang="en-US" smtClean="0"/>
              <a:t>07-Oct-26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57908B-3D14-4382-8F60-36639701EB68}" type="slidenum">
              <a:rPr lang="en-US" smtClean="0"/>
              <a:t>‹#›</a:t>
            </a:fld>
            <a:endParaRPr lang="en-US"/>
          </a:p>
        </p:txBody>
      </p:sp>
    </p:spTree>
    <p:extLst>
      <p:ext uri="{BB962C8B-B14F-4D97-AF65-F5344CB8AC3E}">
        <p14:creationId xmlns:p14="http://schemas.microsoft.com/office/powerpoint/2010/main" val="2622168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457908B-3D14-4382-8F60-36639701EB68}" type="slidenum">
              <a:rPr lang="en-US" smtClean="0"/>
              <a:t>2</a:t>
            </a:fld>
            <a:endParaRPr lang="en-US"/>
          </a:p>
        </p:txBody>
      </p:sp>
    </p:spTree>
    <p:extLst>
      <p:ext uri="{BB962C8B-B14F-4D97-AF65-F5344CB8AC3E}">
        <p14:creationId xmlns:p14="http://schemas.microsoft.com/office/powerpoint/2010/main" val="2492088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457908B-3D14-4382-8F60-36639701EB68}" type="slidenum">
              <a:rPr lang="en-US" smtClean="0"/>
              <a:t>13</a:t>
            </a:fld>
            <a:endParaRPr lang="en-US"/>
          </a:p>
        </p:txBody>
      </p:sp>
    </p:spTree>
    <p:extLst>
      <p:ext uri="{BB962C8B-B14F-4D97-AF65-F5344CB8AC3E}">
        <p14:creationId xmlns:p14="http://schemas.microsoft.com/office/powerpoint/2010/main" val="40786990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46A3A-B9C2-4042-B9CF-3421DBB6F4C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50EBC4E-A5A5-4AB2-8464-28918DB6AE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3F3786B-203D-4191-862A-C854DE0BC4CC}"/>
              </a:ext>
            </a:extLst>
          </p:cNvPr>
          <p:cNvSpPr>
            <a:spLocks noGrp="1"/>
          </p:cNvSpPr>
          <p:nvPr>
            <p:ph type="dt" sz="half" idx="10"/>
          </p:nvPr>
        </p:nvSpPr>
        <p:spPr/>
        <p:txBody>
          <a:bodyPr/>
          <a:lstStyle/>
          <a:p>
            <a:fld id="{84685C27-FFF6-43E1-9590-0DD335E23340}" type="datetimeFigureOut">
              <a:rPr lang="en-US" smtClean="0"/>
              <a:t>07-Oct-26</a:t>
            </a:fld>
            <a:endParaRPr lang="en-US"/>
          </a:p>
        </p:txBody>
      </p:sp>
      <p:sp>
        <p:nvSpPr>
          <p:cNvPr id="5" name="Footer Placeholder 4">
            <a:extLst>
              <a:ext uri="{FF2B5EF4-FFF2-40B4-BE49-F238E27FC236}">
                <a16:creationId xmlns:a16="http://schemas.microsoft.com/office/drawing/2014/main" id="{68EE26B7-726F-4644-B4D1-C48FF46AA0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896DC6-0CC1-4EA7-A869-7B178ECC83D0}"/>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23830982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EACBE-20FF-4950-8DB4-46908C73F6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A8EBA7-575C-424D-920C-4469F3EC26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C4C70D-EEDF-4366-8661-9B4A82D6C80A}"/>
              </a:ext>
            </a:extLst>
          </p:cNvPr>
          <p:cNvSpPr>
            <a:spLocks noGrp="1"/>
          </p:cNvSpPr>
          <p:nvPr>
            <p:ph type="dt" sz="half" idx="10"/>
          </p:nvPr>
        </p:nvSpPr>
        <p:spPr/>
        <p:txBody>
          <a:bodyPr/>
          <a:lstStyle/>
          <a:p>
            <a:fld id="{84685C27-FFF6-43E1-9590-0DD335E23340}" type="datetimeFigureOut">
              <a:rPr lang="en-US" smtClean="0"/>
              <a:t>07-Oct-26</a:t>
            </a:fld>
            <a:endParaRPr lang="en-US"/>
          </a:p>
        </p:txBody>
      </p:sp>
      <p:sp>
        <p:nvSpPr>
          <p:cNvPr id="5" name="Footer Placeholder 4">
            <a:extLst>
              <a:ext uri="{FF2B5EF4-FFF2-40B4-BE49-F238E27FC236}">
                <a16:creationId xmlns:a16="http://schemas.microsoft.com/office/drawing/2014/main" id="{AC426C4D-3929-4B16-82BF-7E3BE55261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E20E28-1E78-4FB4-9F37-F22209813515}"/>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585214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2F2A7-9C86-4306-820C-BBC27BA583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8BF11FD-1A83-4437-900A-F57D34D4F6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1B0CCC-B6CF-475F-81FB-46A11A5032B0}"/>
              </a:ext>
            </a:extLst>
          </p:cNvPr>
          <p:cNvSpPr>
            <a:spLocks noGrp="1"/>
          </p:cNvSpPr>
          <p:nvPr>
            <p:ph type="dt" sz="half" idx="10"/>
          </p:nvPr>
        </p:nvSpPr>
        <p:spPr/>
        <p:txBody>
          <a:bodyPr/>
          <a:lstStyle/>
          <a:p>
            <a:fld id="{84685C27-FFF6-43E1-9590-0DD335E23340}" type="datetimeFigureOut">
              <a:rPr lang="en-US" smtClean="0"/>
              <a:t>07-Oct-26</a:t>
            </a:fld>
            <a:endParaRPr lang="en-US"/>
          </a:p>
        </p:txBody>
      </p:sp>
      <p:sp>
        <p:nvSpPr>
          <p:cNvPr id="5" name="Footer Placeholder 4">
            <a:extLst>
              <a:ext uri="{FF2B5EF4-FFF2-40B4-BE49-F238E27FC236}">
                <a16:creationId xmlns:a16="http://schemas.microsoft.com/office/drawing/2014/main" id="{E1DCD578-41A2-4251-A8B1-35BE6B8CAA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16382C-1A20-403D-85BD-02936401C946}"/>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3132532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7FB11-3D7C-4D55-A221-A71C1676D0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39E654-4A4E-4108-8ADB-E06B022095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5B2745D-CDF9-4CE9-83BA-8B860790E46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1234317-20B0-45FC-B07A-3790B98F2E1E}"/>
              </a:ext>
            </a:extLst>
          </p:cNvPr>
          <p:cNvSpPr>
            <a:spLocks noGrp="1"/>
          </p:cNvSpPr>
          <p:nvPr>
            <p:ph type="dt" sz="half" idx="10"/>
          </p:nvPr>
        </p:nvSpPr>
        <p:spPr/>
        <p:txBody>
          <a:bodyPr/>
          <a:lstStyle/>
          <a:p>
            <a:fld id="{84685C27-FFF6-43E1-9590-0DD335E23340}" type="datetimeFigureOut">
              <a:rPr lang="en-US" smtClean="0"/>
              <a:t>07-Oct-26</a:t>
            </a:fld>
            <a:endParaRPr lang="en-US"/>
          </a:p>
        </p:txBody>
      </p:sp>
      <p:sp>
        <p:nvSpPr>
          <p:cNvPr id="6" name="Footer Placeholder 5">
            <a:extLst>
              <a:ext uri="{FF2B5EF4-FFF2-40B4-BE49-F238E27FC236}">
                <a16:creationId xmlns:a16="http://schemas.microsoft.com/office/drawing/2014/main" id="{B0E122FD-FAF0-4513-8B6F-C25162E755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90A078-837E-4919-B2A6-3D4E7B85A88E}"/>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25619444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35958-14B1-4087-A51D-F0C19D20D98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EA47E3B-113A-4162-A696-753447BB88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13A300-B166-41EA-8790-DEE1FD6F8C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DA9D9C5-D6C3-44E9-A260-AA747DEB60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60E915-8325-4E04-952C-C7CD9357E5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8F6140C-BA9B-4D40-9950-1DA2F9EC78CB}"/>
              </a:ext>
            </a:extLst>
          </p:cNvPr>
          <p:cNvSpPr>
            <a:spLocks noGrp="1"/>
          </p:cNvSpPr>
          <p:nvPr>
            <p:ph type="dt" sz="half" idx="10"/>
          </p:nvPr>
        </p:nvSpPr>
        <p:spPr/>
        <p:txBody>
          <a:bodyPr/>
          <a:lstStyle/>
          <a:p>
            <a:fld id="{84685C27-FFF6-43E1-9590-0DD335E23340}" type="datetimeFigureOut">
              <a:rPr lang="en-US" smtClean="0"/>
              <a:t>07-Oct-26</a:t>
            </a:fld>
            <a:endParaRPr lang="en-US"/>
          </a:p>
        </p:txBody>
      </p:sp>
      <p:sp>
        <p:nvSpPr>
          <p:cNvPr id="8" name="Footer Placeholder 7">
            <a:extLst>
              <a:ext uri="{FF2B5EF4-FFF2-40B4-BE49-F238E27FC236}">
                <a16:creationId xmlns:a16="http://schemas.microsoft.com/office/drawing/2014/main" id="{C2F2AB0E-EBE4-4151-8BA0-B9F7D9609C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E549218-D5F8-45B6-9EE7-93E688C0C6F3}"/>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3769837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C19E6-63DB-47B9-8E75-F1FD619994E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8455798-ABBA-4530-B384-5268E3A3A7FF}"/>
              </a:ext>
            </a:extLst>
          </p:cNvPr>
          <p:cNvSpPr>
            <a:spLocks noGrp="1"/>
          </p:cNvSpPr>
          <p:nvPr>
            <p:ph type="dt" sz="half" idx="10"/>
          </p:nvPr>
        </p:nvSpPr>
        <p:spPr/>
        <p:txBody>
          <a:bodyPr/>
          <a:lstStyle/>
          <a:p>
            <a:fld id="{84685C27-FFF6-43E1-9590-0DD335E23340}" type="datetimeFigureOut">
              <a:rPr lang="en-US" smtClean="0"/>
              <a:t>07-Oct-26</a:t>
            </a:fld>
            <a:endParaRPr lang="en-US"/>
          </a:p>
        </p:txBody>
      </p:sp>
      <p:sp>
        <p:nvSpPr>
          <p:cNvPr id="4" name="Footer Placeholder 3">
            <a:extLst>
              <a:ext uri="{FF2B5EF4-FFF2-40B4-BE49-F238E27FC236}">
                <a16:creationId xmlns:a16="http://schemas.microsoft.com/office/drawing/2014/main" id="{3F6702BD-42C9-4109-8F23-47B1FE4A26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C9CBDF4-73E2-46FA-AD36-93F391823707}"/>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3164316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DBF10A-C785-43D4-A7B9-0848EE3AC604}"/>
              </a:ext>
            </a:extLst>
          </p:cNvPr>
          <p:cNvSpPr>
            <a:spLocks noGrp="1"/>
          </p:cNvSpPr>
          <p:nvPr>
            <p:ph type="dt" sz="half" idx="10"/>
          </p:nvPr>
        </p:nvSpPr>
        <p:spPr/>
        <p:txBody>
          <a:bodyPr/>
          <a:lstStyle/>
          <a:p>
            <a:fld id="{84685C27-FFF6-43E1-9590-0DD335E23340}" type="datetimeFigureOut">
              <a:rPr lang="en-US" smtClean="0"/>
              <a:t>07-Oct-26</a:t>
            </a:fld>
            <a:endParaRPr lang="en-US"/>
          </a:p>
        </p:txBody>
      </p:sp>
      <p:sp>
        <p:nvSpPr>
          <p:cNvPr id="3" name="Footer Placeholder 2">
            <a:extLst>
              <a:ext uri="{FF2B5EF4-FFF2-40B4-BE49-F238E27FC236}">
                <a16:creationId xmlns:a16="http://schemas.microsoft.com/office/drawing/2014/main" id="{F760C2D6-A03F-42EC-BB3A-639404C8D90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709718-5040-4D5A-A159-A9639BE9748E}"/>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87675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88243-7717-4FF5-9F47-6E0E929250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352FBC4-C3F4-4338-9C39-A660FB762C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794A0C6-2FFD-4BEC-859E-44CEE151E0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42DB2B-DDFC-4383-99DE-AFED03890898}"/>
              </a:ext>
            </a:extLst>
          </p:cNvPr>
          <p:cNvSpPr>
            <a:spLocks noGrp="1"/>
          </p:cNvSpPr>
          <p:nvPr>
            <p:ph type="dt" sz="half" idx="10"/>
          </p:nvPr>
        </p:nvSpPr>
        <p:spPr/>
        <p:txBody>
          <a:bodyPr/>
          <a:lstStyle/>
          <a:p>
            <a:fld id="{84685C27-FFF6-43E1-9590-0DD335E23340}" type="datetimeFigureOut">
              <a:rPr lang="en-US" smtClean="0"/>
              <a:t>07-Oct-26</a:t>
            </a:fld>
            <a:endParaRPr lang="en-US"/>
          </a:p>
        </p:txBody>
      </p:sp>
      <p:sp>
        <p:nvSpPr>
          <p:cNvPr id="6" name="Footer Placeholder 5">
            <a:extLst>
              <a:ext uri="{FF2B5EF4-FFF2-40B4-BE49-F238E27FC236}">
                <a16:creationId xmlns:a16="http://schemas.microsoft.com/office/drawing/2014/main" id="{55F21488-40B7-4B22-A590-1E4F23107D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053470-B662-4F1B-8EE7-99A32737260A}"/>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84294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6C3C5-F88A-476E-BE36-ADF879AB70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603101-E643-494E-B9D2-4AF1C80AC5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B4BAEF2-6DC1-4323-9459-D6C6624C54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B26F5B-F072-41F7-94EC-1655D9FDBD9A}"/>
              </a:ext>
            </a:extLst>
          </p:cNvPr>
          <p:cNvSpPr>
            <a:spLocks noGrp="1"/>
          </p:cNvSpPr>
          <p:nvPr>
            <p:ph type="dt" sz="half" idx="10"/>
          </p:nvPr>
        </p:nvSpPr>
        <p:spPr/>
        <p:txBody>
          <a:bodyPr/>
          <a:lstStyle/>
          <a:p>
            <a:fld id="{84685C27-FFF6-43E1-9590-0DD335E23340}" type="datetimeFigureOut">
              <a:rPr lang="en-US" smtClean="0"/>
              <a:t>07-Oct-26</a:t>
            </a:fld>
            <a:endParaRPr lang="en-US"/>
          </a:p>
        </p:txBody>
      </p:sp>
      <p:sp>
        <p:nvSpPr>
          <p:cNvPr id="6" name="Footer Placeholder 5">
            <a:extLst>
              <a:ext uri="{FF2B5EF4-FFF2-40B4-BE49-F238E27FC236}">
                <a16:creationId xmlns:a16="http://schemas.microsoft.com/office/drawing/2014/main" id="{062429B3-CDE5-45BB-B2A6-AE13244386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14D002-EA79-48AC-A2F6-444439C7B926}"/>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2824377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0C49D-5AAA-42F2-BF2D-98530DE669F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87A5875-FEEC-40EE-9908-B07F7DD623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1C1304-EB0D-454C-A287-A1F5D28AB0E8}"/>
              </a:ext>
            </a:extLst>
          </p:cNvPr>
          <p:cNvSpPr>
            <a:spLocks noGrp="1"/>
          </p:cNvSpPr>
          <p:nvPr>
            <p:ph type="dt" sz="half" idx="10"/>
          </p:nvPr>
        </p:nvSpPr>
        <p:spPr/>
        <p:txBody>
          <a:bodyPr/>
          <a:lstStyle/>
          <a:p>
            <a:fld id="{84685C27-FFF6-43E1-9590-0DD335E23340}" type="datetimeFigureOut">
              <a:rPr lang="en-US" smtClean="0"/>
              <a:t>07-Oct-26</a:t>
            </a:fld>
            <a:endParaRPr lang="en-US"/>
          </a:p>
        </p:txBody>
      </p:sp>
      <p:sp>
        <p:nvSpPr>
          <p:cNvPr id="5" name="Footer Placeholder 4">
            <a:extLst>
              <a:ext uri="{FF2B5EF4-FFF2-40B4-BE49-F238E27FC236}">
                <a16:creationId xmlns:a16="http://schemas.microsoft.com/office/drawing/2014/main" id="{15EA2182-ED8C-4F4C-9B3D-658B952BE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45B61E-B4AA-48D1-9D2A-7165CF81CD27}"/>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3823875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E5EAC1-0AB2-4E33-9EA8-9477FA987DD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5C1CF9F-30D8-4B74-980E-8149310CBA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24020F-17BE-4D0E-A582-C49E960510D1}"/>
              </a:ext>
            </a:extLst>
          </p:cNvPr>
          <p:cNvSpPr>
            <a:spLocks noGrp="1"/>
          </p:cNvSpPr>
          <p:nvPr>
            <p:ph type="dt" sz="half" idx="10"/>
          </p:nvPr>
        </p:nvSpPr>
        <p:spPr/>
        <p:txBody>
          <a:bodyPr/>
          <a:lstStyle/>
          <a:p>
            <a:fld id="{84685C27-FFF6-43E1-9590-0DD335E23340}" type="datetimeFigureOut">
              <a:rPr lang="en-US" smtClean="0"/>
              <a:t>07-Oct-26</a:t>
            </a:fld>
            <a:endParaRPr lang="en-US"/>
          </a:p>
        </p:txBody>
      </p:sp>
      <p:sp>
        <p:nvSpPr>
          <p:cNvPr id="5" name="Footer Placeholder 4">
            <a:extLst>
              <a:ext uri="{FF2B5EF4-FFF2-40B4-BE49-F238E27FC236}">
                <a16:creationId xmlns:a16="http://schemas.microsoft.com/office/drawing/2014/main" id="{1D630964-5613-486F-8C2C-3404B01A68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47CFFF-2CE9-4F58-8683-00F3B974A03C}"/>
              </a:ext>
            </a:extLst>
          </p:cNvPr>
          <p:cNvSpPr>
            <a:spLocks noGrp="1"/>
          </p:cNvSpPr>
          <p:nvPr>
            <p:ph type="sldNum" sz="quarter" idx="12"/>
          </p:nvPr>
        </p:nvSpPr>
        <p:spPr/>
        <p:txBody>
          <a:bodyPr/>
          <a:lstStyle/>
          <a:p>
            <a:fld id="{378ACA00-2949-4933-90CD-A5A1DF9BD24C}" type="slidenum">
              <a:rPr lang="en-US" smtClean="0"/>
              <a:t>‹#›</a:t>
            </a:fld>
            <a:endParaRPr lang="en-US"/>
          </a:p>
        </p:txBody>
      </p:sp>
    </p:spTree>
    <p:extLst>
      <p:ext uri="{BB962C8B-B14F-4D97-AF65-F5344CB8AC3E}">
        <p14:creationId xmlns:p14="http://schemas.microsoft.com/office/powerpoint/2010/main" val="3952483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FCE19C-68AA-4D43-BD79-5B6C4DB302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CCE53F7-72C2-46D2-9F8C-F18A1A36E5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9E6084-9184-4F0B-8572-041E46A7F1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85C27-FFF6-43E1-9590-0DD335E23340}" type="datetimeFigureOut">
              <a:rPr lang="en-US" smtClean="0"/>
              <a:t>07-Oct-26</a:t>
            </a:fld>
            <a:endParaRPr lang="en-US"/>
          </a:p>
        </p:txBody>
      </p:sp>
      <p:sp>
        <p:nvSpPr>
          <p:cNvPr id="5" name="Footer Placeholder 4">
            <a:extLst>
              <a:ext uri="{FF2B5EF4-FFF2-40B4-BE49-F238E27FC236}">
                <a16:creationId xmlns:a16="http://schemas.microsoft.com/office/drawing/2014/main" id="{00972DD2-B0EB-4ADF-B216-3EC28C9E3B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905BD17-6469-4C2D-8C8B-DF703A45DD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8ACA00-2949-4933-90CD-A5A1DF9BD24C}" type="slidenum">
              <a:rPr lang="en-US" smtClean="0"/>
              <a:t>‹#›</a:t>
            </a:fld>
            <a:endParaRPr lang="en-US"/>
          </a:p>
        </p:txBody>
      </p:sp>
    </p:spTree>
    <p:extLst>
      <p:ext uri="{BB962C8B-B14F-4D97-AF65-F5344CB8AC3E}">
        <p14:creationId xmlns:p14="http://schemas.microsoft.com/office/powerpoint/2010/main" val="9755279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omments" Target="../comments/comment7.xml"/><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omments" Target="../comments/comment8.xml"/><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omments" Target="../comments/comment9.xml"/><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omments" Target="../comments/comment10.xml"/><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omments" Target="../comments/comment11.xml"/><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comments" Target="../comments/commen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524848D7-8450-4C43-9F1A-768E31F145D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12192000" cy="6858001"/>
          </a:xfrm>
        </p:spPr>
      </p:pic>
    </p:spTree>
    <p:extLst>
      <p:ext uri="{BB962C8B-B14F-4D97-AF65-F5344CB8AC3E}">
        <p14:creationId xmlns:p14="http://schemas.microsoft.com/office/powerpoint/2010/main" val="3556906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CBB1733-C1B3-43E1-84CF-6AF02A64B3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38B9A0F-6E19-4FFE-B21E-5C488861D44A}"/>
              </a:ext>
            </a:extLst>
          </p:cNvPr>
          <p:cNvSpPr>
            <a:spLocks noGrp="1"/>
          </p:cNvSpPr>
          <p:nvPr>
            <p:ph type="title"/>
          </p:nvPr>
        </p:nvSpPr>
        <p:spPr>
          <a:xfrm>
            <a:off x="0" y="812716"/>
            <a:ext cx="12192000" cy="1325563"/>
          </a:xfrm>
        </p:spPr>
        <p:txBody>
          <a:bodyPr>
            <a:noAutofit/>
          </a:bodyPr>
          <a:lstStyle/>
          <a:p>
            <a:r>
              <a:rPr lang="ka-GE" sz="3200" dirty="0">
                <a:solidFill>
                  <a:schemeClr val="accent5"/>
                </a:solidFill>
              </a:rPr>
              <a:t>        </a:t>
            </a:r>
            <a:r>
              <a:rPr lang="en-US" sz="3200" dirty="0">
                <a:solidFill>
                  <a:schemeClr val="accent5"/>
                </a:solidFill>
              </a:rPr>
              <a:t>Password Strength Checker &amp;</a:t>
            </a:r>
            <a:r>
              <a:rPr lang="ka-GE" sz="3200" dirty="0">
                <a:solidFill>
                  <a:schemeClr val="accent5"/>
                </a:solidFill>
              </a:rPr>
              <a:t> </a:t>
            </a:r>
            <a:r>
              <a:rPr lang="en-US" sz="3200" dirty="0">
                <a:solidFill>
                  <a:schemeClr val="accent5"/>
                </a:solidFill>
              </a:rPr>
              <a:t>Brute Force Simulation</a:t>
            </a:r>
            <a:r>
              <a:rPr lang="ka-GE" sz="3200" dirty="0">
                <a:solidFill>
                  <a:schemeClr val="accent5"/>
                </a:solidFill>
              </a:rPr>
              <a:t>      </a:t>
            </a:r>
            <a:br>
              <a:rPr lang="en-US" sz="3200" dirty="0">
                <a:solidFill>
                  <a:schemeClr val="accent5"/>
                </a:solidFill>
              </a:rPr>
            </a:br>
            <a:br>
              <a:rPr lang="en-US" sz="3200" dirty="0">
                <a:solidFill>
                  <a:schemeClr val="accent5"/>
                </a:solidFill>
              </a:rPr>
            </a:br>
            <a:r>
              <a:rPr lang="en-US" sz="3200" dirty="0">
                <a:solidFill>
                  <a:schemeClr val="accent5"/>
                </a:solidFill>
              </a:rPr>
              <a:t>                       </a:t>
            </a:r>
            <a:r>
              <a:rPr lang="ka-GE" sz="3200" dirty="0">
                <a:solidFill>
                  <a:schemeClr val="accent5"/>
                </a:solidFill>
              </a:rPr>
              <a:t>პაროლების უსაფრთხოების ანალიზი</a:t>
            </a:r>
            <a:br>
              <a:rPr lang="en-US" sz="3200" dirty="0">
                <a:solidFill>
                  <a:schemeClr val="accent5"/>
                </a:solidFill>
              </a:rPr>
            </a:br>
            <a:br>
              <a:rPr lang="en-US" sz="3200" dirty="0">
                <a:solidFill>
                  <a:schemeClr val="accent5"/>
                </a:solidFill>
              </a:rPr>
            </a:br>
            <a:br>
              <a:rPr lang="ka-GE" sz="3200" dirty="0">
                <a:solidFill>
                  <a:schemeClr val="accent5"/>
                </a:solidFill>
              </a:rPr>
            </a:br>
            <a:endParaRPr lang="en-US" sz="3200" dirty="0">
              <a:solidFill>
                <a:schemeClr val="accent5"/>
              </a:solidFill>
            </a:endParaRPr>
          </a:p>
        </p:txBody>
      </p:sp>
      <p:graphicFrame>
        <p:nvGraphicFramePr>
          <p:cNvPr id="5" name="Content Placeholder 5">
            <a:extLst>
              <a:ext uri="{FF2B5EF4-FFF2-40B4-BE49-F238E27FC236}">
                <a16:creationId xmlns:a16="http://schemas.microsoft.com/office/drawing/2014/main" id="{747A55E8-8D17-469C-9B44-4C549950FC4F}"/>
              </a:ext>
            </a:extLst>
          </p:cNvPr>
          <p:cNvGraphicFramePr>
            <a:graphicFrameLocks noGrp="1"/>
          </p:cNvGraphicFramePr>
          <p:nvPr>
            <p:ph idx="1"/>
            <p:extLst>
              <p:ext uri="{D42A27DB-BD31-4B8C-83A1-F6EECF244321}">
                <p14:modId xmlns:p14="http://schemas.microsoft.com/office/powerpoint/2010/main" val="2181572371"/>
              </p:ext>
            </p:extLst>
          </p:nvPr>
        </p:nvGraphicFramePr>
        <p:xfrm>
          <a:off x="295273" y="1138270"/>
          <a:ext cx="10782302" cy="5801000"/>
        </p:xfrm>
        <a:graphic>
          <a:graphicData uri="http://schemas.openxmlformats.org/drawingml/2006/table">
            <a:tbl>
              <a:tblPr/>
              <a:tblGrid>
                <a:gridCol w="492831">
                  <a:extLst>
                    <a:ext uri="{9D8B030D-6E8A-4147-A177-3AD203B41FA5}">
                      <a16:colId xmlns:a16="http://schemas.microsoft.com/office/drawing/2014/main" val="514429810"/>
                    </a:ext>
                  </a:extLst>
                </a:gridCol>
                <a:gridCol w="9865830">
                  <a:extLst>
                    <a:ext uri="{9D8B030D-6E8A-4147-A177-3AD203B41FA5}">
                      <a16:colId xmlns:a16="http://schemas.microsoft.com/office/drawing/2014/main" val="1980979207"/>
                    </a:ext>
                  </a:extLst>
                </a:gridCol>
                <a:gridCol w="423641">
                  <a:extLst>
                    <a:ext uri="{9D8B030D-6E8A-4147-A177-3AD203B41FA5}">
                      <a16:colId xmlns:a16="http://schemas.microsoft.com/office/drawing/2014/main" val="1164951195"/>
                    </a:ext>
                  </a:extLst>
                </a:gridCol>
              </a:tblGrid>
              <a:tr h="353686">
                <a:tc>
                  <a:txBody>
                    <a:bodyPr/>
                    <a:lstStyle/>
                    <a:p>
                      <a:endParaRPr lang="en-US" sz="1100" dirty="0">
                        <a:solidFill>
                          <a:schemeClr val="accent5"/>
                        </a:solidFill>
                      </a:endParaRP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4248760958"/>
                  </a:ext>
                </a:extLst>
              </a:tr>
              <a:tr h="461646">
                <a:tc>
                  <a:txBody>
                    <a:bodyPr/>
                    <a:lstStyle/>
                    <a:p>
                      <a:r>
                        <a:rPr lang="en-US" sz="1600" dirty="0">
                          <a:solidFill>
                            <a:schemeClr val="accent5"/>
                          </a:solidFill>
                        </a:rPr>
                        <a:t>1</a:t>
                      </a:r>
                    </a:p>
                  </a:txBody>
                  <a:tcPr marL="55786" marR="55786" marT="27893" marB="27893" anchor="ctr">
                    <a:lnL>
                      <a:noFill/>
                    </a:lnL>
                    <a:lnR>
                      <a:noFill/>
                    </a:lnR>
                    <a:lnT>
                      <a:noFill/>
                    </a:lnT>
                    <a:lnB>
                      <a:noFill/>
                    </a:lnB>
                  </a:tcPr>
                </a:tc>
                <a:tc>
                  <a:txBody>
                    <a:bodyPr/>
                    <a:lstStyle/>
                    <a:p>
                      <a:r>
                        <a:rPr lang="en-US" sz="1600">
                          <a:solidFill>
                            <a:schemeClr val="accent5"/>
                          </a:solidFill>
                        </a:rPr>
                        <a:t>🔐 </a:t>
                      </a:r>
                      <a:r>
                        <a:rPr lang="ka-GE" sz="1600">
                          <a:solidFill>
                            <a:schemeClr val="accent5"/>
                          </a:solidFill>
                        </a:rPr>
                        <a:t>სათაური</a:t>
                      </a:r>
                    </a:p>
                  </a:txBody>
                  <a:tcPr marL="55786" marR="55786" marT="27893" marB="27893" anchor="ctr">
                    <a:lnL>
                      <a:noFill/>
                    </a:lnL>
                    <a:lnR>
                      <a:noFill/>
                    </a:lnR>
                    <a:lnT>
                      <a:noFill/>
                    </a:lnT>
                    <a:lnB>
                      <a:noFill/>
                    </a:lnB>
                  </a:tcPr>
                </a:tc>
                <a:tc>
                  <a:txBody>
                    <a:bodyPr/>
                    <a:lstStyle/>
                    <a:p>
                      <a:endParaRPr lang="en-US"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4068598262"/>
                  </a:ext>
                </a:extLst>
              </a:tr>
              <a:tr h="461646">
                <a:tc>
                  <a:txBody>
                    <a:bodyPr/>
                    <a:lstStyle/>
                    <a:p>
                      <a:r>
                        <a:rPr lang="en-US" sz="1600" dirty="0">
                          <a:solidFill>
                            <a:schemeClr val="accent5"/>
                          </a:solidFill>
                        </a:rPr>
                        <a:t>2</a:t>
                      </a:r>
                    </a:p>
                  </a:txBody>
                  <a:tcPr marL="55786" marR="55786" marT="27893" marB="27893" anchor="ctr">
                    <a:lnL>
                      <a:noFill/>
                    </a:lnL>
                    <a:lnR>
                      <a:noFill/>
                    </a:lnR>
                    <a:lnT>
                      <a:noFill/>
                    </a:lnT>
                    <a:lnB>
                      <a:noFill/>
                    </a:lnB>
                  </a:tcPr>
                </a:tc>
                <a:tc>
                  <a:txBody>
                    <a:bodyPr/>
                    <a:lstStyle/>
                    <a:p>
                      <a:r>
                        <a:rPr lang="en-US" sz="1600" dirty="0">
                          <a:solidFill>
                            <a:schemeClr val="accent5"/>
                          </a:solidFill>
                        </a:rPr>
                        <a:t>🔑 </a:t>
                      </a:r>
                      <a:r>
                        <a:rPr lang="ka-GE" sz="1600" dirty="0">
                          <a:solidFill>
                            <a:schemeClr val="accent5"/>
                          </a:solidFill>
                        </a:rPr>
                        <a:t>რატომ არის პაროლი მნიშვნელოვანი?</a:t>
                      </a: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2585340804"/>
                  </a:ext>
                </a:extLst>
              </a:tr>
              <a:tr h="461646">
                <a:tc>
                  <a:txBody>
                    <a:bodyPr/>
                    <a:lstStyle/>
                    <a:p>
                      <a:r>
                        <a:rPr lang="en-US" sz="1600" dirty="0">
                          <a:solidFill>
                            <a:schemeClr val="accent5"/>
                          </a:solidFill>
                        </a:rPr>
                        <a:t>3</a:t>
                      </a:r>
                    </a:p>
                  </a:txBody>
                  <a:tcPr marL="55786" marR="55786" marT="27893" marB="27893" anchor="ctr">
                    <a:lnL>
                      <a:noFill/>
                    </a:lnL>
                    <a:lnR>
                      <a:noFill/>
                    </a:lnR>
                    <a:lnT>
                      <a:noFill/>
                    </a:lnT>
                    <a:lnB>
                      <a:noFill/>
                    </a:lnB>
                  </a:tcPr>
                </a:tc>
                <a:tc>
                  <a:txBody>
                    <a:bodyPr/>
                    <a:lstStyle/>
                    <a:p>
                      <a:r>
                        <a:rPr lang="en-US" sz="1600" dirty="0">
                          <a:solidFill>
                            <a:schemeClr val="accent5"/>
                          </a:solidFill>
                        </a:rPr>
                        <a:t>💪 Password Strength</a:t>
                      </a:r>
                      <a:r>
                        <a:rPr lang="ka-GE" sz="1600" dirty="0">
                          <a:solidFill>
                            <a:schemeClr val="accent5"/>
                          </a:solidFill>
                        </a:rPr>
                        <a:t> </a:t>
                      </a:r>
                      <a:r>
                        <a:rPr lang="en-US" sz="1600" dirty="0">
                          <a:solidFill>
                            <a:schemeClr val="accent5"/>
                          </a:solidFill>
                        </a:rPr>
                        <a:t>Checker- </a:t>
                      </a:r>
                      <a:r>
                        <a:rPr lang="ka-GE" sz="1600" dirty="0">
                          <a:solidFill>
                            <a:schemeClr val="accent5"/>
                          </a:solidFill>
                        </a:rPr>
                        <a:t>პაროლის სიძლიერის შემმოწმებელი</a:t>
                      </a:r>
                      <a:endParaRPr lang="en-US" sz="1600" dirty="0">
                        <a:solidFill>
                          <a:schemeClr val="accent5"/>
                        </a:solidFill>
                      </a:endParaRP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4123350758"/>
                  </a:ext>
                </a:extLst>
              </a:tr>
              <a:tr h="711880">
                <a:tc>
                  <a:txBody>
                    <a:bodyPr/>
                    <a:lstStyle/>
                    <a:p>
                      <a:r>
                        <a:rPr lang="en-US" sz="1600">
                          <a:solidFill>
                            <a:schemeClr val="accent5"/>
                          </a:solidFill>
                        </a:rPr>
                        <a:t>4</a:t>
                      </a:r>
                    </a:p>
                  </a:txBody>
                  <a:tcPr marL="55786" marR="55786" marT="27893" marB="27893" anchor="ctr">
                    <a:lnL>
                      <a:noFill/>
                    </a:lnL>
                    <a:lnR>
                      <a:noFill/>
                    </a:lnR>
                    <a:lnT>
                      <a:noFill/>
                    </a:lnT>
                    <a:lnB>
                      <a:noFill/>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accent5"/>
                          </a:solidFill>
                        </a:rPr>
                        <a:t>🛡️</a:t>
                      </a:r>
                      <a:r>
                        <a:rPr lang="ka-GE" sz="1600" dirty="0">
                          <a:solidFill>
                            <a:schemeClr val="accent5"/>
                          </a:solidFill>
                        </a:rPr>
                        <a:t>რამდენად ეხმარება </a:t>
                      </a:r>
                      <a:r>
                        <a:rPr lang="en-US" sz="1600" dirty="0">
                          <a:solidFill>
                            <a:schemeClr val="accent5"/>
                          </a:solidFill>
                        </a:rPr>
                        <a:t>password checker </a:t>
                      </a:r>
                      <a:r>
                        <a:rPr lang="ka-GE" sz="1600" dirty="0">
                          <a:solidFill>
                            <a:schemeClr val="accent5"/>
                          </a:solidFill>
                        </a:rPr>
                        <a:t>პაროლის დაცულობას?“</a:t>
                      </a:r>
                      <a:r>
                        <a:rPr lang="en-US" sz="1600" dirty="0">
                          <a:solidFill>
                            <a:schemeClr val="accent5"/>
                          </a:solidFill>
                        </a:rPr>
                        <a:t> </a:t>
                      </a:r>
                      <a:r>
                        <a:rPr lang="ka-GE" sz="1600" dirty="0">
                          <a:solidFill>
                            <a:schemeClr val="accent5"/>
                          </a:solidFill>
                        </a:rPr>
                        <a:t> როგორ დავიცვათ პაროლი.</a:t>
                      </a:r>
                      <a:endParaRPr lang="en-US" sz="1600" dirty="0">
                        <a:solidFill>
                          <a:schemeClr val="accent5"/>
                        </a:solidFill>
                      </a:endParaRP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3500510838"/>
                  </a:ext>
                </a:extLst>
              </a:tr>
              <a:tr h="659494">
                <a:tc>
                  <a:txBody>
                    <a:bodyPr/>
                    <a:lstStyle/>
                    <a:p>
                      <a:r>
                        <a:rPr lang="en-US" sz="1600">
                          <a:solidFill>
                            <a:schemeClr val="accent5"/>
                          </a:solidFill>
                        </a:rPr>
                        <a:t>5</a:t>
                      </a:r>
                    </a:p>
                  </a:txBody>
                  <a:tcPr marL="55786" marR="55786" marT="27893" marB="27893" anchor="ctr">
                    <a:lnL>
                      <a:noFill/>
                    </a:lnL>
                    <a:lnR>
                      <a:noFill/>
                    </a:lnR>
                    <a:lnT>
                      <a:noFill/>
                    </a:lnT>
                    <a:lnB>
                      <a:noFill/>
                    </a:lnB>
                  </a:tcPr>
                </a:tc>
                <a:tc>
                  <a:txBody>
                    <a:bodyPr/>
                    <a:lstStyle/>
                    <a:p>
                      <a:r>
                        <a:rPr lang="en-US" sz="1600" dirty="0">
                          <a:solidFill>
                            <a:schemeClr val="accent5"/>
                          </a:solidFill>
                        </a:rPr>
                        <a:t>🤖 </a:t>
                      </a:r>
                      <a:r>
                        <a:rPr lang="ka-GE" sz="1600" dirty="0">
                          <a:solidFill>
                            <a:schemeClr val="accent5"/>
                          </a:solidFill>
                        </a:rPr>
                        <a:t>რა არის </a:t>
                      </a:r>
                      <a:r>
                        <a:rPr lang="en-US" sz="1600" dirty="0">
                          <a:solidFill>
                            <a:schemeClr val="accent5"/>
                          </a:solidFill>
                        </a:rPr>
                        <a:t>Brute Force</a:t>
                      </a:r>
                      <a:r>
                        <a:rPr lang="ka-GE" sz="1600" dirty="0">
                          <a:solidFill>
                            <a:schemeClr val="accent5"/>
                          </a:solidFill>
                        </a:rPr>
                        <a:t> </a:t>
                      </a:r>
                      <a:r>
                        <a:rPr lang="en-US" sz="1600" dirty="0">
                          <a:solidFill>
                            <a:schemeClr val="accent5"/>
                          </a:solidFill>
                        </a:rPr>
                        <a:t>Attack ?</a:t>
                      </a:r>
                      <a:endParaRPr lang="fr-FR" sz="1600" dirty="0">
                        <a:solidFill>
                          <a:schemeClr val="accent5"/>
                        </a:solidFill>
                      </a:endParaRP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2760605025"/>
                  </a:ext>
                </a:extLst>
              </a:tr>
              <a:tr h="461646">
                <a:tc>
                  <a:txBody>
                    <a:bodyPr/>
                    <a:lstStyle/>
                    <a:p>
                      <a:r>
                        <a:rPr lang="en-US" sz="1600">
                          <a:solidFill>
                            <a:schemeClr val="accent5"/>
                          </a:solidFill>
                        </a:rPr>
                        <a:t>6</a:t>
                      </a:r>
                    </a:p>
                  </a:txBody>
                  <a:tcPr marL="55786" marR="55786" marT="27893" marB="27893" anchor="ctr">
                    <a:lnL>
                      <a:noFill/>
                    </a:lnL>
                    <a:lnR>
                      <a:noFill/>
                    </a:lnR>
                    <a:lnT>
                      <a:noFill/>
                    </a:lnT>
                    <a:lnB>
                      <a:noFill/>
                    </a:lnB>
                  </a:tcPr>
                </a:tc>
                <a:tc>
                  <a:txBody>
                    <a:bodyPr/>
                    <a:lstStyle/>
                    <a:p>
                      <a:r>
                        <a:rPr lang="en-US" sz="1600" dirty="0">
                          <a:solidFill>
                            <a:schemeClr val="accent5"/>
                          </a:solidFill>
                        </a:rPr>
                        <a:t>✅Brute Force</a:t>
                      </a:r>
                      <a:r>
                        <a:rPr lang="ka-GE" sz="1600" dirty="0">
                          <a:solidFill>
                            <a:schemeClr val="accent5"/>
                          </a:solidFill>
                        </a:rPr>
                        <a:t> </a:t>
                      </a:r>
                      <a:r>
                        <a:rPr lang="en-US" sz="1600" dirty="0">
                          <a:solidFill>
                            <a:schemeClr val="accent5"/>
                          </a:solidFill>
                        </a:rPr>
                        <a:t>Attack  -</a:t>
                      </a:r>
                      <a:r>
                        <a:rPr lang="ka-GE" sz="1600" dirty="0">
                          <a:solidFill>
                            <a:schemeClr val="accent5"/>
                          </a:solidFill>
                        </a:rPr>
                        <a:t>ტიპები.</a:t>
                      </a:r>
                    </a:p>
                    <a:p>
                      <a:endParaRPr lang="ka-GE" sz="1600" dirty="0">
                        <a:solidFill>
                          <a:schemeClr val="accent5"/>
                        </a:solidFill>
                      </a:endParaRP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2468402732"/>
                  </a:ext>
                </a:extLst>
              </a:tr>
              <a:tr h="461646">
                <a:tc>
                  <a:txBody>
                    <a:bodyPr/>
                    <a:lstStyle/>
                    <a:p>
                      <a:r>
                        <a:rPr lang="en-US" sz="1600" dirty="0">
                          <a:solidFill>
                            <a:schemeClr val="accent5"/>
                          </a:solidFill>
                        </a:rPr>
                        <a:t>7</a:t>
                      </a:r>
                    </a:p>
                  </a:txBody>
                  <a:tcPr marL="55786" marR="55786" marT="27893" marB="27893" anchor="ctr">
                    <a:lnL>
                      <a:noFill/>
                    </a:lnL>
                    <a:lnR>
                      <a:noFill/>
                    </a:lnR>
                    <a:lnT>
                      <a:noFill/>
                    </a:lnT>
                    <a:lnB>
                      <a:noFill/>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ka-GE" sz="1600" dirty="0">
                          <a:solidFill>
                            <a:schemeClr val="accent5"/>
                          </a:solidFill>
                        </a:rPr>
                        <a:t> </a:t>
                      </a:r>
                      <a:r>
                        <a:rPr lang="en-US" sz="1600" dirty="0">
                          <a:solidFill>
                            <a:schemeClr val="accent5"/>
                          </a:solidFill>
                        </a:rPr>
                        <a:t>💻</a:t>
                      </a:r>
                      <a:r>
                        <a:rPr lang="ka-GE" sz="1600" dirty="0">
                          <a:solidFill>
                            <a:schemeClr val="accent5"/>
                          </a:solidFill>
                        </a:rPr>
                        <a:t>რა არის  </a:t>
                      </a:r>
                      <a:r>
                        <a:rPr lang="en-US" sz="1600" dirty="0">
                          <a:solidFill>
                            <a:schemeClr val="accent5"/>
                          </a:solidFill>
                        </a:rPr>
                        <a:t>Password Spraying- </a:t>
                      </a:r>
                      <a:r>
                        <a:rPr lang="ka-GE" sz="1600" dirty="0">
                          <a:solidFill>
                            <a:schemeClr val="accent5"/>
                          </a:solidFill>
                        </a:rPr>
                        <a:t>პაროლების გაფრქვევა</a:t>
                      </a:r>
                      <a:r>
                        <a:rPr lang="en-US" sz="1600" dirty="0">
                          <a:solidFill>
                            <a:schemeClr val="accent5"/>
                          </a:solidFill>
                        </a:rPr>
                        <a:t> </a:t>
                      </a:r>
                      <a:r>
                        <a:rPr lang="ka-GE" sz="1600" dirty="0">
                          <a:solidFill>
                            <a:schemeClr val="accent5"/>
                          </a:solidFill>
                        </a:rPr>
                        <a:t>?</a:t>
                      </a: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941899263"/>
                  </a:ext>
                </a:extLst>
              </a:tr>
              <a:tr h="461646">
                <a:tc>
                  <a:txBody>
                    <a:bodyPr/>
                    <a:lstStyle/>
                    <a:p>
                      <a:r>
                        <a:rPr lang="en-US" sz="1600">
                          <a:solidFill>
                            <a:schemeClr val="accent5"/>
                          </a:solidFill>
                        </a:rPr>
                        <a:t>8</a:t>
                      </a:r>
                    </a:p>
                  </a:txBody>
                  <a:tcPr marL="55786" marR="55786" marT="27893" marB="27893" anchor="ctr">
                    <a:lnL>
                      <a:noFill/>
                    </a:lnL>
                    <a:lnR>
                      <a:noFill/>
                    </a:lnR>
                    <a:lnT>
                      <a:noFill/>
                    </a:lnT>
                    <a:lnB>
                      <a:noFill/>
                    </a:lnB>
                  </a:tcPr>
                </a:tc>
                <a:tc>
                  <a:txBody>
                    <a:bodyPr/>
                    <a:lstStyle/>
                    <a:p>
                      <a:r>
                        <a:rPr lang="fr-FR" sz="1600" dirty="0">
                          <a:solidFill>
                            <a:schemeClr val="accent5"/>
                          </a:solidFill>
                        </a:rPr>
                        <a:t>⚡ Brute Force Simulation</a:t>
                      </a:r>
                      <a:endParaRPr lang="ka-GE" sz="1600" dirty="0">
                        <a:solidFill>
                          <a:schemeClr val="accent5"/>
                        </a:solidFill>
                      </a:endParaRP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490343473"/>
                  </a:ext>
                </a:extLst>
              </a:tr>
              <a:tr h="283709">
                <a:tc>
                  <a:txBody>
                    <a:bodyPr/>
                    <a:lstStyle/>
                    <a:p>
                      <a:r>
                        <a:rPr lang="en-US" sz="1600">
                          <a:solidFill>
                            <a:schemeClr val="accent5"/>
                          </a:solidFill>
                        </a:rPr>
                        <a:t>9</a:t>
                      </a:r>
                    </a:p>
                  </a:txBody>
                  <a:tcPr marL="55786" marR="55786" marT="27893" marB="27893" anchor="ctr">
                    <a:lnL>
                      <a:noFill/>
                    </a:lnL>
                    <a:lnR>
                      <a:noFill/>
                    </a:lnR>
                    <a:lnT>
                      <a:noFill/>
                    </a:lnT>
                    <a:lnB>
                      <a:noFill/>
                    </a:lnB>
                  </a:tcPr>
                </a:tc>
                <a:tc>
                  <a:txBody>
                    <a:bodyPr/>
                    <a:lstStyle/>
                    <a:p>
                      <a:r>
                        <a:rPr lang="en-US" sz="1600" dirty="0">
                          <a:solidFill>
                            <a:schemeClr val="accent5"/>
                          </a:solidFill>
                        </a:rPr>
                        <a:t>🧪 </a:t>
                      </a:r>
                      <a:r>
                        <a:rPr lang="ka-GE" sz="1600" dirty="0">
                          <a:solidFill>
                            <a:schemeClr val="accent5"/>
                          </a:solidFill>
                        </a:rPr>
                        <a:t>დემო</a:t>
                      </a: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2416370581"/>
                  </a:ext>
                </a:extLst>
              </a:tr>
              <a:tr h="462309">
                <a:tc>
                  <a:txBody>
                    <a:bodyPr/>
                    <a:lstStyle/>
                    <a:p>
                      <a:r>
                        <a:rPr lang="en-US" sz="1600">
                          <a:solidFill>
                            <a:schemeClr val="accent5"/>
                          </a:solidFill>
                        </a:rPr>
                        <a:t>10</a:t>
                      </a:r>
                    </a:p>
                  </a:txBody>
                  <a:tcPr marL="55786" marR="55786" marT="27893" marB="27893" anchor="ctr">
                    <a:lnL>
                      <a:noFill/>
                    </a:lnL>
                    <a:lnR>
                      <a:noFill/>
                    </a:lnR>
                    <a:lnT>
                      <a:noFill/>
                    </a:lnT>
                    <a:lnB>
                      <a:noFill/>
                    </a:lnB>
                  </a:tcPr>
                </a:tc>
                <a:tc>
                  <a:txBody>
                    <a:bodyPr/>
                    <a:lstStyle/>
                    <a:p>
                      <a:r>
                        <a:rPr lang="en-US" sz="1600" dirty="0">
                          <a:solidFill>
                            <a:schemeClr val="accent5"/>
                          </a:solidFill>
                        </a:rPr>
                        <a:t>👨‍💻 </a:t>
                      </a:r>
                      <a:r>
                        <a:rPr lang="ka-GE" sz="1600" dirty="0">
                          <a:solidFill>
                            <a:schemeClr val="accent5"/>
                          </a:solidFill>
                        </a:rPr>
                        <a:t>კოდი</a:t>
                      </a: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458536476"/>
                  </a:ext>
                </a:extLst>
              </a:tr>
              <a:tr h="462309">
                <a:tc>
                  <a:txBody>
                    <a:bodyPr/>
                    <a:lstStyle/>
                    <a:p>
                      <a:r>
                        <a:rPr lang="en-US" sz="1600" dirty="0">
                          <a:solidFill>
                            <a:schemeClr val="accent5"/>
                          </a:solidFill>
                        </a:rPr>
                        <a:t>11</a:t>
                      </a:r>
                    </a:p>
                  </a:txBody>
                  <a:tcPr marL="55786" marR="55786" marT="27893" marB="27893" anchor="ctr">
                    <a:lnL>
                      <a:noFill/>
                    </a:lnL>
                    <a:lnR>
                      <a:noFill/>
                    </a:lnR>
                    <a:lnT>
                      <a:noFill/>
                    </a:lnT>
                    <a:lnB>
                      <a:noFill/>
                    </a:lnB>
                  </a:tcPr>
                </a:tc>
                <a:tc>
                  <a:txBody>
                    <a:bodyPr/>
                    <a:lstStyle/>
                    <a:p>
                      <a:r>
                        <a:rPr lang="ka-GE" sz="1600" dirty="0">
                          <a:solidFill>
                            <a:schemeClr val="accent5"/>
                          </a:solidFill>
                        </a:rPr>
                        <a:t>დასკვნა</a:t>
                      </a:r>
                    </a:p>
                  </a:txBody>
                  <a:tcPr marL="55786" marR="55786" marT="27893" marB="27893" anchor="ctr">
                    <a:lnL>
                      <a:noFill/>
                    </a:lnL>
                    <a:lnR>
                      <a:noFill/>
                    </a:lnR>
                    <a:lnT>
                      <a:noFill/>
                    </a:lnT>
                    <a:lnB>
                      <a:noFill/>
                    </a:lnB>
                  </a:tcPr>
                </a:tc>
                <a:tc>
                  <a:txBody>
                    <a:bodyPr/>
                    <a:lstStyle/>
                    <a:p>
                      <a:endParaRPr lang="ka-GE" sz="1100" dirty="0">
                        <a:solidFill>
                          <a:schemeClr val="accent5"/>
                        </a:solidFill>
                      </a:endParaRPr>
                    </a:p>
                  </a:txBody>
                  <a:tcPr marL="55786" marR="55786" marT="27893" marB="27893" anchor="ctr">
                    <a:lnL>
                      <a:noFill/>
                    </a:lnL>
                    <a:lnR>
                      <a:noFill/>
                    </a:lnR>
                    <a:lnT>
                      <a:noFill/>
                    </a:lnT>
                    <a:lnB>
                      <a:noFill/>
                    </a:lnB>
                  </a:tcPr>
                </a:tc>
                <a:extLst>
                  <a:ext uri="{0D108BD9-81ED-4DB2-BD59-A6C34878D82A}">
                    <a16:rowId xmlns:a16="http://schemas.microsoft.com/office/drawing/2014/main" val="4104124094"/>
                  </a:ext>
                </a:extLst>
              </a:tr>
            </a:tbl>
          </a:graphicData>
        </a:graphic>
      </p:graphicFrame>
    </p:spTree>
    <p:extLst>
      <p:ext uri="{BB962C8B-B14F-4D97-AF65-F5344CB8AC3E}">
        <p14:creationId xmlns:p14="http://schemas.microsoft.com/office/powerpoint/2010/main" val="41681403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371FD-FD72-4942-B12A-D4C0CCC75801}"/>
              </a:ext>
            </a:extLst>
          </p:cNvPr>
          <p:cNvSpPr>
            <a:spLocks noGrp="1"/>
          </p:cNvSpPr>
          <p:nvPr>
            <p:ph type="title"/>
          </p:nvPr>
        </p:nvSpPr>
        <p:spPr>
          <a:xfrm>
            <a:off x="-76200" y="-161924"/>
            <a:ext cx="10725150" cy="4333874"/>
          </a:xfrm>
        </p:spPr>
        <p:txBody>
          <a:bodyPr>
            <a:noAutofit/>
          </a:bodyPr>
          <a:lstStyle/>
          <a:p>
            <a:br>
              <a:rPr lang="ka-GE" sz="1600" dirty="0"/>
            </a:br>
            <a:endParaRPr lang="en-US" sz="1600" dirty="0"/>
          </a:p>
        </p:txBody>
      </p:sp>
      <p:pic>
        <p:nvPicPr>
          <p:cNvPr id="8" name="Picture 7">
            <a:extLst>
              <a:ext uri="{FF2B5EF4-FFF2-40B4-BE49-F238E27FC236}">
                <a16:creationId xmlns:a16="http://schemas.microsoft.com/office/drawing/2014/main" id="{A0BE2511-EECA-4B29-8192-E0603FF100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7" y="0"/>
            <a:ext cx="12189023" cy="6858000"/>
          </a:xfrm>
          <a:prstGeom prst="rect">
            <a:avLst/>
          </a:prstGeom>
        </p:spPr>
      </p:pic>
    </p:spTree>
    <p:extLst>
      <p:ext uri="{BB962C8B-B14F-4D97-AF65-F5344CB8AC3E}">
        <p14:creationId xmlns:p14="http://schemas.microsoft.com/office/powerpoint/2010/main" val="964672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DFE5BE4-ACEA-408E-A4E9-7AA2371951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330943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F34EB1-DD94-4EF0-8740-C405277089A2}"/>
              </a:ext>
            </a:extLst>
          </p:cNvPr>
          <p:cNvPicPr>
            <a:picLocks noChangeAspect="1"/>
          </p:cNvPicPr>
          <p:nvPr/>
        </p:nvPicPr>
        <p:blipFill rotWithShape="1">
          <a:blip r:embed="rId2">
            <a:extLst>
              <a:ext uri="{28A0092B-C50C-407E-A947-70E740481C1C}">
                <a14:useLocalDpi xmlns:a14="http://schemas.microsoft.com/office/drawing/2010/main" val="0"/>
              </a:ext>
            </a:extLst>
          </a:blip>
          <a:srcRect r="3031"/>
          <a:stretch/>
        </p:blipFill>
        <p:spPr>
          <a:xfrm>
            <a:off x="0" y="0"/>
            <a:ext cx="12192000" cy="6858000"/>
          </a:xfrm>
          <a:prstGeom prst="rect">
            <a:avLst/>
          </a:prstGeom>
        </p:spPr>
      </p:pic>
    </p:spTree>
    <p:extLst>
      <p:ext uri="{BB962C8B-B14F-4D97-AF65-F5344CB8AC3E}">
        <p14:creationId xmlns:p14="http://schemas.microsoft.com/office/powerpoint/2010/main" val="34940497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3265DA9-CA7C-49BD-9F92-CDC81D5B71E5}"/>
              </a:ext>
            </a:extLst>
          </p:cNvPr>
          <p:cNvSpPr>
            <a:spLocks noGrp="1" noChangeArrowheads="1"/>
          </p:cNvSpPr>
          <p:nvPr>
            <p:ph idx="1"/>
          </p:nvPr>
        </p:nvSpPr>
        <p:spPr bwMode="auto">
          <a:xfrm>
            <a:off x="5717894" y="3272462"/>
            <a:ext cx="6474106"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E0882E3C-5EA2-4BBF-82A0-667D0BAA25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515888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706301C-0541-4A5B-A028-3B8D6D7516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0571761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21F93CBC-60BC-475A-B99A-52FFA97722BF}"/>
              </a:ext>
            </a:extLst>
          </p:cNvPr>
          <p:cNvSpPr>
            <a:spLocks noChangeArrowheads="1"/>
          </p:cNvSpPr>
          <p:nvPr/>
        </p:nvSpPr>
        <p:spPr bwMode="auto">
          <a:xfrm>
            <a:off x="960699" y="3303732"/>
            <a:ext cx="9772516" cy="139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03136" rIns="0" bIns="20313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4535BEDD-FBD3-4ED2-9377-EADD012205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619422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4D557A-6B0F-473B-8A73-76873BCD25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0525" y="0"/>
            <a:ext cx="12192000" cy="6858000"/>
          </a:xfrm>
          <a:prstGeom prst="rect">
            <a:avLst/>
          </a:prstGeom>
        </p:spPr>
      </p:pic>
    </p:spTree>
    <p:extLst>
      <p:ext uri="{BB962C8B-B14F-4D97-AF65-F5344CB8AC3E}">
        <p14:creationId xmlns:p14="http://schemas.microsoft.com/office/powerpoint/2010/main" val="442668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D1D8F3-DDC8-47A5-AE78-500BC6521E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953250"/>
          </a:xfrm>
          <a:prstGeom prst="rect">
            <a:avLst/>
          </a:prstGeom>
        </p:spPr>
      </p:pic>
    </p:spTree>
    <p:extLst>
      <p:ext uri="{BB962C8B-B14F-4D97-AF65-F5344CB8AC3E}">
        <p14:creationId xmlns:p14="http://schemas.microsoft.com/office/powerpoint/2010/main" val="40758008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50A08-7403-4F3E-9D3A-AE78E16FE3B5}"/>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DBBC3172-5AEF-4ABB-8608-C845DCF4C00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287250" cy="6858000"/>
          </a:xfrm>
        </p:spPr>
      </p:pic>
    </p:spTree>
    <p:extLst>
      <p:ext uri="{BB962C8B-B14F-4D97-AF65-F5344CB8AC3E}">
        <p14:creationId xmlns:p14="http://schemas.microsoft.com/office/powerpoint/2010/main" val="2206450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1CEEFF0-5DEB-45CF-AAB4-B88A3E566F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387263" cy="6858000"/>
          </a:xfrm>
          <a:prstGeom prst="rect">
            <a:avLst/>
          </a:prstGeom>
        </p:spPr>
      </p:pic>
    </p:spTree>
    <p:extLst>
      <p:ext uri="{BB962C8B-B14F-4D97-AF65-F5344CB8AC3E}">
        <p14:creationId xmlns:p14="http://schemas.microsoft.com/office/powerpoint/2010/main" val="6985720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24D01-DA64-4B9A-99C3-3A0EDEC3B13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2A2168BE-5A99-4864-B450-B8C7537B075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12192000" cy="6861646"/>
          </a:xfrm>
        </p:spPr>
      </p:pic>
    </p:spTree>
    <p:extLst>
      <p:ext uri="{BB962C8B-B14F-4D97-AF65-F5344CB8AC3E}">
        <p14:creationId xmlns:p14="http://schemas.microsoft.com/office/powerpoint/2010/main" val="1101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5476</TotalTime>
  <Words>90</Words>
  <Application>Microsoft Office PowerPoint</Application>
  <PresentationFormat>Widescreen</PresentationFormat>
  <Paragraphs>29</Paragraphs>
  <Slides>13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Google Sans</vt:lpstr>
      <vt:lpstr>Sylfaen</vt:lpstr>
      <vt:lpstr>Office Theme</vt:lpstr>
      <vt:lpstr>PowerPoint Presentation</vt:lpstr>
      <vt:lpstr>        Password Strength Checker &amp; Brute Force Simulation                               პაროლების უსაფრთხოების ანალიზი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Administrator</cp:lastModifiedBy>
  <cp:revision>67</cp:revision>
  <dcterms:created xsi:type="dcterms:W3CDTF">2026-09-10T10:15:27Z</dcterms:created>
  <dcterms:modified xsi:type="dcterms:W3CDTF">2026-10-08T12:52:27Z</dcterms:modified>
</cp:coreProperties>
</file>